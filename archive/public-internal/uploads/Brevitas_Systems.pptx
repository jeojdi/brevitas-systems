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James. I'm here to talk about Brevitas Systems. Our thesis in one sentence: the future of software is multi-agent, and nobody has built the token layer for it. The word brevitas comes from Latin — Virgil and Horace used it as a rhetorical virtue: saying more with less. That's the product. We're raising a pre-seed.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thesis. Every serious piece of software is becoming a multi-agent system. Coding agents, research agents, legal, medical, sales, support — the shape of AI products has shifted from one model call per task to a choreography of five, ten, fifty. That transition is basically done. Multi-agent is the default architecture for serious AI products in 2026. And yet, for all the tokens flowing between those agents — which is the fastest-growing line item in AI infrastructure — nobody has built the layer. That's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problem. In a traditional multi-agent pipeline, every downstream agent receives the full output of every prior agent. Pipelines re-serialize context at each step, and the redundancy compounds exponentially. Our worked example on the right: a three-agent Architect-Builder-Reviewer pipeline. Agent 1 generates a thousand tokens. Agent 2 receives those plus the task and generates five hundred more. Agent 3 receives everything. Cumulative: 2,924 tokens for a single task. This is how ninety-nine percent of production multi-agent systems are built today. The three trends — agents replacing single calls, one-million-token context windows, and reasoning models that bill for invisible thinking tokens — all compound this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solution. Brevitas Systems is the layer between the agents. Agents stay the same. Prompts stay the same. Models stay the same. Only the communication between them changes. Same pipeline — Architect, Builder, Reviewer — but with delta mode, shared-memory references, and compression, the cumulative token count drops from 2,924 to 1,188. That's a 59.4% token reduction, a 46.9% cost reduction, and roughly 99% quality parity with baseline. These three numbers always travel together. Token reduction without quality is worthless — investors know this. Ninety-nine percent quality parity is what converts this from interesting research to a real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hood, six stackable techniques. Message compression. Shared-memory references — agent outputs stored once, passed by ID. Delta mode — only send changes to shared state. Smart context pruning. A compact structured message protocol that saves 20-40% of syntactic overhead. And task-aware routing that decides which techniques to apply per call. It ships as a drop-in Python SDK — pip install, wrap your pipeline, done. Provider-agnostic by design: our current test harness runs DeepSeek, Groq, and OpenAI simultaneously in one pipeline. Works on top of LangChain, CrewAI, AutoGen, or custom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Three peer-reviewed multi-agent benchmarks integrated into our test harness: AgentBench from ICLR 2024, MARBLE from ACL 2025, and BattleAgentBench. The results table on the right shows first-run numbers on an AgentBench task — 59.4 percent token reduction, 46.9 percent cost reduction, about 99 percent quality parity. Caveat: n=1 task right now; we're pushing to n≥50 with a formal quality metric before close. And critically — the research community has already validated this approach. AgentPrune at ICLR 2025, AgentDropout at ACL 2025, SupervisorAgent — they all independently prove inter-agent optimization works. None of them are productized. We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hero numbers. Fifty-nine point four percent fewer tokens. Forty-six point nine percent lower cost. Roughly ninety-nine percent quality parity. Across DeepSeek, Groq, and OpenAI running simultaneously in one pipeline. First-run, n=1 — pushing to n≥50 by Q3. Inbound signal and design partners are placeholder on this slide today; we'll lock those numbers before the fundraising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now. Three inflection points converging. 2023 was demos. 2025, pipelines hit production and token bills appear on real P&amp;Ls for the first time. 2026 is the year CFOs audit AI budgets and engineers get quarterly OKRs tied to inference cost. The category window is open today — observability has emerging winners, routing has emerging winners, inter-agent optimization has nobody. Expect a well-funded entrant within 12 to 18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size. Two framings. Top-down: global LLM API spend in 2028 is projected at a level you all have seen — multi-agent takes around 40% of that, and inter-agent communication is typically 50–70% of tokens in a multi-agent pipeline. That's the SAM. Bottom-up: roughly 7,500 AI-native companies will have multi-agent in production by end of 2026, each spending meaningful monthly dollars on inter-agent tokens, with a 20% addressable share via gainshare or SaaS capture. Specific dollar figures on this slide are placeholder — we'll lock them before the raise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landscape, as a 2-by-2. X axis: single-call versus multi-agent. Y axis: measurement versus optimization. Single-call optimization has The Token Company from YC W26, LLMLingua from Microsoft Research, and native caches from Anthropic and OpenAI — but native caches don't cross providers, which is the common case for cost-optimized pipelines. Observability is crowded: Helicone, Langfuse, Portkey, Langsmith. Routing has OpenRouter and Martian. Multi-agent optimization — the upper right quadrant — is empty. We are the only productized company targeting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model. Tiered SaaS today — Starter at $499 a month, Team at $2,900 a month for AI-native startups in production. Enterprise is hybrid: SaaS plus gainshare — a percentage of verified savings. Critically, this is a pure-ML optimization layer, not a reseller of API calls, so margin structure is infrastructure software: 78–85% gross margin at scale. Unit of value is tokens saved, not tokens sold. Land with the SDK, expand into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Team. I'm James — I built the end-to-end Brevitas harness across three providers, integrated the three benchmark suites, and shipped the baseline-vs-optimized comparison. Prior work includes Algoverse and Berkeley research, BioBuddy, and ship receipts at Hack The Ridge and PennApps. Co-founder is placeholder — technical co-founder finalization in progress, joining before close. Advisors: CEO of Backboard is on board; research and operator advisors are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Pre-seed, SAFE, cap to be finalized. 18 months of runway. Use of funds: 45% engineering for the full benchmark run and delta engine v2; 20% compute and research; 20% design partners and instrumentation; 15% operations. Milestones that money unlocks: full AgentBench-MARBLE-BattleAgentBench with n≥50; three to five design partners in production; SDK v1.0 with native adapters; and a seed-to-Series-A bridge with one million ARR in line of 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Five-year vision. Every multi-agent system in production runs on a token-efficiency layer by default — and ours is the one everyone installs first. Brevitas. Saying more with less.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36794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6217712" y="762000"/>
            <a:ext cx="119398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12468" y="4099952"/>
            <a:ext cx="533330" cy="533330"/>
          </a:xfrm>
          <a:prstGeom prst="rect">
            <a:avLst/>
          </a:prstGeom>
          <a:ln w="11206">
            <a:solidFill>
              <a:srgbClr val="E8E2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85518" y="3795117"/>
            <a:ext cx="871695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spc="-18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8839165" y="5319117"/>
            <a:ext cx="609495" cy="9525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5653068" y="5709572"/>
            <a:ext cx="6981863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</a:t>
            </a:r>
            <a:pPr algn="ctr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n., Lat. </a:t>
            </a:r>
            <a:pPr algn="ctr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concision; saying more with less.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8933189"/>
            <a:ext cx="220969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2500" y="9177442"/>
            <a:ext cx="2209695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[Last Name]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496694" y="8933189"/>
            <a:ext cx="283880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4496694" y="9177442"/>
            <a:ext cx="2838805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james@brevitas.systems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735946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9005330" cy="2312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serious piece of software is becoming a </a:t>
            </a:r>
            <a:pPr algn="l" indent="0" marL="0">
              <a:lnSpc>
                <a:spcPct val="104000"/>
              </a:lnSpc>
              <a:buNone/>
            </a:pPr>
            <a:r>
              <a:rPr lang="en-US" sz="5700" i="1" spc="-1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</a:t>
            </a:r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4701743"/>
            <a:ext cx="8829674" cy="1248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Coding, research, legal, medical, sales, support — the shape of AI products has shifted from one model call to a choreography of five, ten, fifty.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6292978"/>
            <a:ext cx="8829674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for the tokens flowing </a:t>
            </a:r>
            <a:pPr algn="l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</a:t>
            </a:r>
            <a:pPr algn="l"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agents — the single fastest-growing line item in AI infra — no one has built the layer.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09869" y="1893619"/>
            <a:ext cx="11206" cy="262147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9" name="Text 7"/>
          <p:cNvSpPr/>
          <p:nvPr/>
        </p:nvSpPr>
        <p:spPr>
          <a:xfrm>
            <a:off x="11154405" y="1893619"/>
            <a:ext cx="636652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OF AI WORKLOADS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1154405" y="2328372"/>
            <a:ext cx="2703186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· SINGLE-SHOT CALLS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068484" y="2328372"/>
            <a:ext cx="34321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154405" y="2564746"/>
            <a:ext cx="6181094" cy="5708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4405" y="2564746"/>
            <a:ext cx="1112534" cy="5708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4405" y="2812326"/>
            <a:ext cx="2372530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· CHAINS &amp; TOOLS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068484" y="2812326"/>
            <a:ext cx="34321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154405" y="3048700"/>
            <a:ext cx="6181094" cy="5708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4405" y="3048700"/>
            <a:ext cx="2101453" cy="5708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4405" y="3296280"/>
            <a:ext cx="2703186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PRODUCTION AGENTS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068484" y="3296280"/>
            <a:ext cx="34321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154405" y="3532654"/>
            <a:ext cx="6181094" cy="5708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4405" y="3532654"/>
            <a:ext cx="3832236" cy="5708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4405" y="3780234"/>
            <a:ext cx="2928436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MULTI-AGENT DEFAULT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068484" y="3780234"/>
            <a:ext cx="34321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54405" y="4016608"/>
            <a:ext cx="6181094" cy="5708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54405" y="4016608"/>
            <a:ext cx="5686460" cy="57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4405" y="4302183"/>
            <a:ext cx="636652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 Based on agent-pipeline share of new AI product launches.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93625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03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7586919" cy="2312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pipelines leak </a:t>
            </a:r>
            <a:pPr algn="l" indent="0" marL="0">
              <a:lnSpc>
                <a:spcPct val="104000"/>
              </a:lnSpc>
              <a:buNone/>
            </a:pPr>
            <a:r>
              <a:rPr lang="en-US" sz="5700" i="1" spc="-1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</a:t>
            </a:r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exponentially.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4625578"/>
            <a:ext cx="7456169" cy="1248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downstream agent receives the full output of every prior agent. Pipelines re-serialize context at each step. The redundancy compounds.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6216813"/>
            <a:ext cx="7365941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532679"/>
            <a:ext cx="45720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61995" y="6532679"/>
            <a:ext cx="695914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replaced single-shot calls as the default shape of AI products.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7417944"/>
            <a:ext cx="45720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61995" y="7417944"/>
            <a:ext cx="695914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 keep inflating. 1M-token windows mean more redundancy per message.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8303208"/>
            <a:ext cx="45720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61995" y="8303208"/>
            <a:ext cx="6959140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 bill for thinking — invisible tokens compound per agent.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32771" y="1893619"/>
            <a:ext cx="8102728" cy="7631381"/>
          </a:xfrm>
          <a:prstGeom prst="rect">
            <a:avLst/>
          </a:prstGeom>
          <a:solidFill>
            <a:srgbClr val="161B17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4977" y="2308237"/>
            <a:ext cx="2832854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· N=1 TASK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4766551" y="2285825"/>
            <a:ext cx="2252943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→ Builder → Reviewer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24977" y="2803396"/>
            <a:ext cx="1643273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· Architect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159407" y="2803396"/>
            <a:ext cx="86008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tok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24977" y="3118212"/>
            <a:ext cx="7318316" cy="133245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4977" y="3118212"/>
            <a:ext cx="2488056" cy="133245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24977" y="3384702"/>
            <a:ext cx="149532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· Builder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159407" y="3384702"/>
            <a:ext cx="86008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tok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24977" y="3699517"/>
            <a:ext cx="7318316" cy="133245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4" name="Shape 22"/>
          <p:cNvSpPr/>
          <p:nvPr/>
        </p:nvSpPr>
        <p:spPr>
          <a:xfrm>
            <a:off x="9624977" y="3699517"/>
            <a:ext cx="3732259" cy="133245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25" name="Text 23"/>
          <p:cNvSpPr/>
          <p:nvPr/>
        </p:nvSpPr>
        <p:spPr>
          <a:xfrm>
            <a:off x="9624977" y="3966007"/>
            <a:ext cx="1696325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· Reviewer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159407" y="3966007"/>
            <a:ext cx="86008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2,924 tok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24977" y="4280822"/>
            <a:ext cx="7318316" cy="133245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24977" y="4280822"/>
            <a:ext cx="7318316" cy="133245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29" name="Shape 27"/>
          <p:cNvSpPr/>
          <p:nvPr/>
        </p:nvSpPr>
        <p:spPr>
          <a:xfrm>
            <a:off x="9624977" y="4756897"/>
            <a:ext cx="7318316" cy="9525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0" name="Text 28"/>
          <p:cNvSpPr/>
          <p:nvPr/>
        </p:nvSpPr>
        <p:spPr>
          <a:xfrm>
            <a:off x="9624977" y="4994847"/>
            <a:ext cx="2007289" cy="87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216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2,924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11784561" y="5487906"/>
            <a:ext cx="3445485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tokens for one task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784561" y="5835288"/>
            <a:ext cx="3445485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 three-agent pipeline — baseline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24977" y="8875093"/>
            <a:ext cx="7537866" cy="29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99% of production multi-agent systems are built today.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01521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14716124" cy="81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</a:t>
            </a:r>
            <a:pPr algn="l" indent="0" marL="0">
              <a:lnSpc>
                <a:spcPct val="104000"/>
              </a:lnSpc>
              <a:buNone/>
            </a:pPr>
            <a:r>
              <a:rPr lang="en-US" sz="5700" i="1" spc="-1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</a:t>
            </a:r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agents.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2895320"/>
            <a:ext cx="11772899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stay the same. Prompts stay the same. Models stay the same. Only the communication between them changes.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235473"/>
            <a:ext cx="7924834" cy="2930863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8366" y="4551339"/>
            <a:ext cx="962165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985817" y="4551339"/>
            <a:ext cx="1651852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passed forward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68366" y="4992746"/>
            <a:ext cx="685660" cy="685660"/>
          </a:xfrm>
          <a:prstGeom prst="rect">
            <a:avLst/>
          </a:prstGeom>
          <a:ln w="11206">
            <a:solidFill>
              <a:srgbClr val="C7C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1472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30191" y="5315790"/>
            <a:ext cx="2465819" cy="37995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660" y="5049825"/>
            <a:ext cx="66100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tok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175" y="4992746"/>
            <a:ext cx="685660" cy="685660"/>
          </a:xfrm>
          <a:prstGeom prst="rect">
            <a:avLst/>
          </a:prstGeom>
          <a:ln w="11206">
            <a:solidFill>
              <a:srgbClr val="C7C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5281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33999" y="5296180"/>
            <a:ext cx="2465819" cy="76165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275469" y="5049825"/>
            <a:ext cx="66100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tok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75984" y="4992746"/>
            <a:ext cx="685660" cy="685660"/>
          </a:xfrm>
          <a:prstGeom prst="rect">
            <a:avLst/>
          </a:prstGeom>
          <a:ln w="11206">
            <a:solidFill>
              <a:srgbClr val="C7C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9090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68366" y="6021235"/>
            <a:ext cx="7293103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21" name="Text 19"/>
          <p:cNvSpPr/>
          <p:nvPr/>
        </p:nvSpPr>
        <p:spPr>
          <a:xfrm>
            <a:off x="1268366" y="6592735"/>
            <a:ext cx="986853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23987" y="6222941"/>
            <a:ext cx="1613682" cy="665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62" kern="0" dirty="0">
                <a:solidFill>
                  <a:srgbClr val="8B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2,924</a:t>
            </a:r>
            <a:endParaRPr lang="en-US" sz="5400" dirty="0"/>
          </a:p>
        </p:txBody>
      </p:sp>
      <p:sp>
        <p:nvSpPr>
          <p:cNvPr id="23" name="Shape 21"/>
          <p:cNvSpPr/>
          <p:nvPr/>
        </p:nvSpPr>
        <p:spPr>
          <a:xfrm>
            <a:off x="9410665" y="4235473"/>
            <a:ext cx="7924834" cy="2930863"/>
          </a:xfrm>
          <a:prstGeom prst="rect">
            <a:avLst/>
          </a:prstGeom>
          <a:solidFill>
            <a:srgbClr val="D4A84B">
              <a:alpha val="4000"/>
            </a:srgbClr>
          </a:solidFill>
          <a:ln w="11206">
            <a:solidFill>
              <a:srgbClr val="D4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6530" y="4551339"/>
            <a:ext cx="150389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BREVITAS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224066" y="4551339"/>
            <a:ext cx="187176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deltas · refs · compression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26530" y="4992746"/>
            <a:ext cx="685660" cy="685660"/>
          </a:xfrm>
          <a:prstGeom prst="rect">
            <a:avLst/>
          </a:prstGeom>
          <a:ln w="11206">
            <a:solidFill>
              <a:srgbClr val="E8E2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9636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488355" y="5326996"/>
            <a:ext cx="2465819" cy="1891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11668790" y="5283013"/>
            <a:ext cx="104775" cy="104775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0" name="Text 28"/>
          <p:cNvSpPr/>
          <p:nvPr/>
        </p:nvSpPr>
        <p:spPr>
          <a:xfrm>
            <a:off x="11471846" y="5049825"/>
            <a:ext cx="576262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tok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030340" y="4992746"/>
            <a:ext cx="685660" cy="685660"/>
          </a:xfrm>
          <a:prstGeom prst="rect">
            <a:avLst/>
          </a:prstGeom>
          <a:ln w="11206">
            <a:solidFill>
              <a:srgbClr val="E8E2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03445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3792164" y="5326996"/>
            <a:ext cx="2465819" cy="1891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14972599" y="5283013"/>
            <a:ext cx="104775" cy="104775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5" name="Text 33"/>
          <p:cNvSpPr/>
          <p:nvPr/>
        </p:nvSpPr>
        <p:spPr>
          <a:xfrm>
            <a:off x="14775655" y="5049825"/>
            <a:ext cx="576262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tok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334148" y="4992746"/>
            <a:ext cx="685660" cy="685660"/>
          </a:xfrm>
          <a:prstGeom prst="rect">
            <a:avLst/>
          </a:prstGeom>
          <a:ln w="11206">
            <a:solidFill>
              <a:srgbClr val="E8E2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307254" y="5003952"/>
            <a:ext cx="739448" cy="70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726530" y="6021235"/>
            <a:ext cx="7293103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9" name="Text 37"/>
          <p:cNvSpPr/>
          <p:nvPr/>
        </p:nvSpPr>
        <p:spPr>
          <a:xfrm>
            <a:off x="9726530" y="6592735"/>
            <a:ext cx="986853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5714323" y="6222941"/>
            <a:ext cx="1381510" cy="665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62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1,188</a:t>
            </a:r>
            <a:endParaRPr lang="en-US" sz="5400" dirty="0"/>
          </a:p>
        </p:txBody>
      </p:sp>
      <p:sp>
        <p:nvSpPr>
          <p:cNvPr id="41" name="Shape 39"/>
          <p:cNvSpPr/>
          <p:nvPr/>
        </p:nvSpPr>
        <p:spPr>
          <a:xfrm>
            <a:off x="952500" y="7585331"/>
            <a:ext cx="16382999" cy="1183271"/>
          </a:xfrm>
          <a:prstGeom prst="rect">
            <a:avLst/>
          </a:prstGeom>
          <a:solidFill>
            <a:srgbClr val="2A2F2A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3706" y="7596537"/>
            <a:ext cx="5447109" cy="1160859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43" name="Text 41"/>
          <p:cNvSpPr/>
          <p:nvPr/>
        </p:nvSpPr>
        <p:spPr>
          <a:xfrm>
            <a:off x="1268366" y="7863202"/>
            <a:ext cx="2008864" cy="665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62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−59.4%</a:t>
            </a:r>
            <a:endParaRPr lang="en-US" sz="5400" dirty="0"/>
          </a:p>
        </p:txBody>
      </p:sp>
      <p:sp>
        <p:nvSpPr>
          <p:cNvPr id="44" name="Text 42"/>
          <p:cNvSpPr/>
          <p:nvPr/>
        </p:nvSpPr>
        <p:spPr>
          <a:xfrm>
            <a:off x="3429525" y="8277820"/>
            <a:ext cx="19263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spc="247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REDUCTION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6420270" y="7596537"/>
            <a:ext cx="5447284" cy="1160859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46" name="Text 44"/>
          <p:cNvSpPr/>
          <p:nvPr/>
        </p:nvSpPr>
        <p:spPr>
          <a:xfrm>
            <a:off x="6724930" y="7863202"/>
            <a:ext cx="2027074" cy="665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62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−46.9%</a:t>
            </a:r>
            <a:endParaRPr lang="en-US" sz="5400" dirty="0"/>
          </a:p>
        </p:txBody>
      </p:sp>
      <p:sp>
        <p:nvSpPr>
          <p:cNvPr id="47" name="Text 45"/>
          <p:cNvSpPr/>
          <p:nvPr/>
        </p:nvSpPr>
        <p:spPr>
          <a:xfrm>
            <a:off x="8904298" y="8277820"/>
            <a:ext cx="17996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spc="247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11877009" y="7596537"/>
            <a:ext cx="5447284" cy="1160859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49" name="Text 47"/>
          <p:cNvSpPr/>
          <p:nvPr/>
        </p:nvSpPr>
        <p:spPr>
          <a:xfrm>
            <a:off x="12181669" y="7863202"/>
            <a:ext cx="1611756" cy="665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62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</a:t>
            </a:r>
            <a:endParaRPr lang="en-US" sz="5400" dirty="0"/>
          </a:p>
        </p:txBody>
      </p:sp>
      <p:sp>
        <p:nvSpPr>
          <p:cNvPr id="50" name="Text 48"/>
          <p:cNvSpPr/>
          <p:nvPr/>
        </p:nvSpPr>
        <p:spPr>
          <a:xfrm>
            <a:off x="13945720" y="8277820"/>
            <a:ext cx="16702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spc="247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PARITY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47080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665742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spc="-63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stacked techniques. One drop-in SDK.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3341279"/>
            <a:ext cx="6657423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Provider-agnostic by design. Current test harness runs three providers simultaneously in one pipeline.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340703"/>
            <a:ext cx="6463518" cy="2648440"/>
          </a:xfrm>
          <a:prstGeom prst="rect">
            <a:avLst/>
          </a:prstGeom>
          <a:solidFill>
            <a:srgbClr val="161B17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0371" y="4618574"/>
            <a:ext cx="608500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230371" y="4977162"/>
            <a:ext cx="60850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brevitas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230371" y="5311062"/>
            <a:ext cx="60850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wrap_pipeline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230371" y="5568798"/>
            <a:ext cx="60850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= wrap_pipeline(my_agents)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230371" y="6055028"/>
            <a:ext cx="1150004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5737" y="6162009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067" y="6123314"/>
            <a:ext cx="823003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2494534" y="6055028"/>
            <a:ext cx="1669501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9900" y="6162009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2772230" y="6123314"/>
            <a:ext cx="1342531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LLAMA-3.3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4278196" y="6055028"/>
            <a:ext cx="1607344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3561" y="6162009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0" name="Text 18"/>
          <p:cNvSpPr/>
          <p:nvPr/>
        </p:nvSpPr>
        <p:spPr>
          <a:xfrm>
            <a:off x="4555891" y="6123314"/>
            <a:ext cx="1280437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4O-MINI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230371" y="6440230"/>
            <a:ext cx="1214788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5737" y="6547211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067" y="6508516"/>
            <a:ext cx="887808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2559318" y="6440230"/>
            <a:ext cx="953375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4684" y="6547211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2837014" y="6508516"/>
            <a:ext cx="626341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3626854" y="6440230"/>
            <a:ext cx="1082593" cy="271042"/>
          </a:xfrm>
          <a:prstGeom prst="roundRect">
            <a:avLst>
              <a:gd name="adj" fmla="val 7028"/>
            </a:avLst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52220" y="6547211"/>
            <a:ext cx="57080" cy="5708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3904549" y="6508516"/>
            <a:ext cx="755598" cy="17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8101678" y="1893619"/>
            <a:ext cx="4426323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1" name="Text 29"/>
          <p:cNvSpPr/>
          <p:nvPr/>
        </p:nvSpPr>
        <p:spPr>
          <a:xfrm>
            <a:off x="8101678" y="2095325"/>
            <a:ext cx="19508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8372895" y="2207384"/>
            <a:ext cx="258701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compression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101678" y="2616398"/>
            <a:ext cx="4559113" cy="81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outputs compressed before being passed downstream. Redundancy removed, structure preserved.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2909000" y="1893619"/>
            <a:ext cx="442649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5" name="Text 33"/>
          <p:cNvSpPr/>
          <p:nvPr/>
        </p:nvSpPr>
        <p:spPr>
          <a:xfrm>
            <a:off x="12909000" y="2095325"/>
            <a:ext cx="3138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3298930" y="2207384"/>
            <a:ext cx="3250532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Shared-memory references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909000" y="2616398"/>
            <a:ext cx="4559293" cy="81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stored once in session memory. Downstream agents receive IDs, not re-serialized content.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101678" y="3656269"/>
            <a:ext cx="4426323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9" name="Text 37"/>
          <p:cNvSpPr/>
          <p:nvPr/>
        </p:nvSpPr>
        <p:spPr>
          <a:xfrm>
            <a:off x="8101678" y="3857975"/>
            <a:ext cx="43251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8610319" y="3970034"/>
            <a:ext cx="1391490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mode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8101678" y="4379048"/>
            <a:ext cx="4559113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pass, agents receive only changes to shared state — not the full history.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2909000" y="3656269"/>
            <a:ext cx="442649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3" name="Text 41"/>
          <p:cNvSpPr/>
          <p:nvPr/>
        </p:nvSpPr>
        <p:spPr>
          <a:xfrm>
            <a:off x="12909000" y="3857975"/>
            <a:ext cx="42655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3411690" y="3970034"/>
            <a:ext cx="2671987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context pruning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909000" y="4379048"/>
            <a:ext cx="4559293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relevance pass drops context unlikely to be used by the next agent, based on role and task class.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101678" y="5161184"/>
            <a:ext cx="4426323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7" name="Text 45"/>
          <p:cNvSpPr/>
          <p:nvPr/>
        </p:nvSpPr>
        <p:spPr>
          <a:xfrm>
            <a:off x="8101678" y="5362890"/>
            <a:ext cx="30784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8485654" y="5474948"/>
            <a:ext cx="3194084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message protocol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8101678" y="5883964"/>
            <a:ext cx="4559113" cy="81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schema replaces free-form prose between agents. 20–40% syntactic overhead reduction.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2909000" y="5161184"/>
            <a:ext cx="442649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1" name="Text 49"/>
          <p:cNvSpPr/>
          <p:nvPr/>
        </p:nvSpPr>
        <p:spPr>
          <a:xfrm>
            <a:off x="12909000" y="5362890"/>
            <a:ext cx="42655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13411690" y="5474948"/>
            <a:ext cx="232980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Task-aware routing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2909000" y="5883964"/>
            <a:ext cx="4559293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which techniques to apply per call. Not every message needs every optimization.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1721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7242101" cy="3041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the benchmarks the research community already trusts.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5277795"/>
            <a:ext cx="7242101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peer-reviewed multi-agent suites integrated into our test harness. Results reproducible against real API calls.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6315390"/>
            <a:ext cx="7031166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593261"/>
            <a:ext cx="72421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LINEAGE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2500" y="6951849"/>
            <a:ext cx="17907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AgentPrune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19330" y="6996672"/>
            <a:ext cx="102870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24160" y="6963055"/>
            <a:ext cx="41234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28–73% token reduction via inter-agent pruning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" y="7354035"/>
            <a:ext cx="17907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AgentDropout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9330" y="7398858"/>
            <a:ext cx="102870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2025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24160" y="7365241"/>
            <a:ext cx="386677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 prompt + 18.4% completion reduction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7756221"/>
            <a:ext cx="17907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SupervisorAgent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19330" y="7801045"/>
            <a:ext cx="102870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24160" y="7767427"/>
            <a:ext cx="4181291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29.7% reduction on GAIA via runtime supervision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2500" y="8473397"/>
            <a:ext cx="549401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proves the approach. Brevitas is the productized commercial layer.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97995" y="1893619"/>
            <a:ext cx="2685385" cy="1619250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7696" y="2133320"/>
            <a:ext cx="2282183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37696" y="2441481"/>
            <a:ext cx="2282183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spc="-2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AgentBench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37696" y="2847345"/>
            <a:ext cx="2282183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DBBench · OS · KG · ALFWorld · WebShop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73880" y="1893619"/>
            <a:ext cx="2685385" cy="1619250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13581" y="2133320"/>
            <a:ext cx="2282183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013581" y="2441481"/>
            <a:ext cx="2282183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spc="-2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MARBLE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013581" y="3060256"/>
            <a:ext cx="2282183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 suite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649764" y="1893619"/>
            <a:ext cx="2685560" cy="1619250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89466" y="2133320"/>
            <a:ext cx="2282358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889466" y="2441481"/>
            <a:ext cx="2282358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spc="-2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BattleAgentBench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889466" y="2847345"/>
            <a:ext cx="2282358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+ cooperation scenarios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97995" y="3893869"/>
            <a:ext cx="8437329" cy="2953450"/>
          </a:xfrm>
          <a:prstGeom prst="rect">
            <a:avLst/>
          </a:prstGeom>
          <a:solidFill>
            <a:srgbClr val="D4A84B">
              <a:alpha val="5000"/>
            </a:srgbClr>
          </a:solidFill>
          <a:ln w="11206">
            <a:solidFill>
              <a:srgbClr val="D4A8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09201" y="4460816"/>
            <a:ext cx="8414917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3" name="Text 31"/>
          <p:cNvSpPr/>
          <p:nvPr/>
        </p:nvSpPr>
        <p:spPr>
          <a:xfrm>
            <a:off x="9175866" y="4076490"/>
            <a:ext cx="3391742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FIRST-RUN RESULTS · AGENTBENCH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5231945" y="4076490"/>
            <a:ext cx="1901708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· real API · 3 providers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09201" y="4983991"/>
            <a:ext cx="1894845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6" name="Text 34"/>
          <p:cNvSpPr/>
          <p:nvPr/>
        </p:nvSpPr>
        <p:spPr>
          <a:xfrm>
            <a:off x="9175901" y="4624422"/>
            <a:ext cx="143764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44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804046" y="4983991"/>
            <a:ext cx="2249406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8" name="Text 36"/>
          <p:cNvSpPr/>
          <p:nvPr/>
        </p:nvSpPr>
        <p:spPr>
          <a:xfrm>
            <a:off x="11070746" y="4624422"/>
            <a:ext cx="1792206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44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3053451" y="4983991"/>
            <a:ext cx="2426774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0" name="Text 38"/>
          <p:cNvSpPr/>
          <p:nvPr/>
        </p:nvSpPr>
        <p:spPr>
          <a:xfrm>
            <a:off x="13320151" y="4624422"/>
            <a:ext cx="196957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44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5480225" y="4983991"/>
            <a:ext cx="184441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2" name="Text 40"/>
          <p:cNvSpPr/>
          <p:nvPr/>
        </p:nvSpPr>
        <p:spPr>
          <a:xfrm>
            <a:off x="15746925" y="4624422"/>
            <a:ext cx="138721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44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09201" y="5595762"/>
            <a:ext cx="1894845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4" name="Text 42"/>
          <p:cNvSpPr/>
          <p:nvPr/>
        </p:nvSpPr>
        <p:spPr>
          <a:xfrm>
            <a:off x="9175901" y="5166647"/>
            <a:ext cx="1437645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804046" y="5595762"/>
            <a:ext cx="2249406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6" name="Text 44"/>
          <p:cNvSpPr/>
          <p:nvPr/>
        </p:nvSpPr>
        <p:spPr>
          <a:xfrm>
            <a:off x="11070746" y="5166647"/>
            <a:ext cx="1792206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2,924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3053451" y="5595762"/>
            <a:ext cx="2426774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8" name="Text 46"/>
          <p:cNvSpPr/>
          <p:nvPr/>
        </p:nvSpPr>
        <p:spPr>
          <a:xfrm>
            <a:off x="13320151" y="5166647"/>
            <a:ext cx="1969574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1,188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5480225" y="5595762"/>
            <a:ext cx="184441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0" name="Text 48"/>
          <p:cNvSpPr/>
          <p:nvPr/>
        </p:nvSpPr>
        <p:spPr>
          <a:xfrm>
            <a:off x="15746925" y="5166647"/>
            <a:ext cx="1387218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−59.4%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909201" y="6207533"/>
            <a:ext cx="1894845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2" name="Text 50"/>
          <p:cNvSpPr/>
          <p:nvPr/>
        </p:nvSpPr>
        <p:spPr>
          <a:xfrm>
            <a:off x="9175901" y="5778418"/>
            <a:ext cx="1437645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0804046" y="6207533"/>
            <a:ext cx="2249406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4" name="Text 52"/>
          <p:cNvSpPr/>
          <p:nvPr/>
        </p:nvSpPr>
        <p:spPr>
          <a:xfrm>
            <a:off x="11070746" y="5778418"/>
            <a:ext cx="1792206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$0.001616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3053451" y="6207533"/>
            <a:ext cx="2426774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6" name="Text 54"/>
          <p:cNvSpPr/>
          <p:nvPr/>
        </p:nvSpPr>
        <p:spPr>
          <a:xfrm>
            <a:off x="13320151" y="5778418"/>
            <a:ext cx="1969574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$0.000857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5480225" y="6207533"/>
            <a:ext cx="184441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58" name="Text 56"/>
          <p:cNvSpPr/>
          <p:nvPr/>
        </p:nvSpPr>
        <p:spPr>
          <a:xfrm>
            <a:off x="15746925" y="5778418"/>
            <a:ext cx="1387218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−46.9%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909201" y="6819304"/>
            <a:ext cx="1894845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60" name="Text 58"/>
          <p:cNvSpPr/>
          <p:nvPr/>
        </p:nvSpPr>
        <p:spPr>
          <a:xfrm>
            <a:off x="9175901" y="6390189"/>
            <a:ext cx="1437645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0804046" y="6819304"/>
            <a:ext cx="2249406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62" name="Text 60"/>
          <p:cNvSpPr/>
          <p:nvPr/>
        </p:nvSpPr>
        <p:spPr>
          <a:xfrm>
            <a:off x="11070746" y="6390189"/>
            <a:ext cx="1792206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3053451" y="6819304"/>
            <a:ext cx="2426774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64" name="Text 62"/>
          <p:cNvSpPr/>
          <p:nvPr/>
        </p:nvSpPr>
        <p:spPr>
          <a:xfrm>
            <a:off x="13320151" y="6390189"/>
            <a:ext cx="1969574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15480225" y="6819304"/>
            <a:ext cx="184441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66" name="Text 64"/>
          <p:cNvSpPr/>
          <p:nvPr/>
        </p:nvSpPr>
        <p:spPr>
          <a:xfrm>
            <a:off x="15746925" y="6390189"/>
            <a:ext cx="1387218" cy="29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881623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07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2796918"/>
            <a:ext cx="1687448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FIRST-RUN, REAL-API RESULTS ON AGENTBENCH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2500" y="7024687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343565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980189"/>
            <a:ext cx="5457049" cy="1920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spc="-660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pPr algn="l" indent="0" marL="0">
              <a:lnSpc>
                <a:spcPct val="90000"/>
              </a:lnSpc>
              <a:buNone/>
            </a:pPr>
            <a:r>
              <a:rPr lang="en-US" sz="9075" spc="-660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.4%</a:t>
            </a:r>
            <a:endParaRPr lang="en-US" sz="16500" dirty="0"/>
          </a:p>
        </p:txBody>
      </p:sp>
      <p:sp>
        <p:nvSpPr>
          <p:cNvPr id="9" name="Text 7"/>
          <p:cNvSpPr/>
          <p:nvPr/>
        </p:nvSpPr>
        <p:spPr>
          <a:xfrm>
            <a:off x="952500" y="6053277"/>
            <a:ext cx="545704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REDUCTION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52500" y="6278445"/>
            <a:ext cx="545704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2,924 → 1,188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36266" y="3980189"/>
            <a:ext cx="5457229" cy="1920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spc="-660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pPr algn="l" indent="0" marL="0">
              <a:lnSpc>
                <a:spcPct val="90000"/>
              </a:lnSpc>
              <a:buNone/>
            </a:pPr>
            <a:r>
              <a:rPr lang="en-US" sz="9075" spc="-660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.9%</a:t>
            </a:r>
            <a:endParaRPr lang="en-US" sz="16500" dirty="0"/>
          </a:p>
        </p:txBody>
      </p:sp>
      <p:sp>
        <p:nvSpPr>
          <p:cNvPr id="12" name="Text 10"/>
          <p:cNvSpPr/>
          <p:nvPr/>
        </p:nvSpPr>
        <p:spPr>
          <a:xfrm>
            <a:off x="6936266" y="6053277"/>
            <a:ext cx="545722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936266" y="6278445"/>
            <a:ext cx="545722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$0.001616 → $0.000857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20207" y="4327571"/>
            <a:ext cx="4547571" cy="1573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0" spc="-54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</a:t>
            </a:r>
            <a:pPr algn="l" indent="0" marL="0">
              <a:lnSpc>
                <a:spcPct val="90000"/>
              </a:lnSpc>
              <a:buNone/>
            </a:pPr>
            <a:r>
              <a:rPr lang="en-US" sz="6750" spc="-54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15" name="Text 13"/>
          <p:cNvSpPr/>
          <p:nvPr/>
        </p:nvSpPr>
        <p:spPr>
          <a:xfrm>
            <a:off x="12920207" y="6053277"/>
            <a:ext cx="454757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PARITY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920207" y="6278445"/>
            <a:ext cx="4547571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output inspection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7416893"/>
            <a:ext cx="520619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IN ONE PIPELINE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52500" y="7680231"/>
            <a:ext cx="520619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· Groq · OpenAI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616548" y="7416893"/>
            <a:ext cx="52063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SIGNAL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16548" y="7680231"/>
            <a:ext cx="52063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waitlist · LOIs · placeholder ]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280771" y="7416893"/>
            <a:ext cx="52063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2280771" y="7680231"/>
            <a:ext cx="52063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n≥50 tasks · formal quality metric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8408613"/>
            <a:ext cx="1373504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AgentBench (ICLR 2024), single task, real API calls, token counts logged at provider response. Full benchmark suite (AgentBench · MARBLE · BattleAgentBench, n≥50) targeted for Q3 2026.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99193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1373504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window </a:t>
            </a:r>
            <a:pPr algn="l" indent="0" marL="0">
              <a:lnSpc>
                <a:spcPct val="104000"/>
              </a:lnSpc>
              <a:buNone/>
            </a:pPr>
            <a:r>
              <a:rPr lang="en-US" sz="5700" i="1" spc="-1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in 2026 </a:t>
            </a:r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won't stay open.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3646114"/>
            <a:ext cx="11772899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inflection points converging at once — and expect a well-funded entrant within 12–18 months.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526826"/>
            <a:ext cx="16382999" cy="4998173"/>
          </a:xfrm>
          <a:prstGeom prst="rect">
            <a:avLst/>
          </a:prstGeom>
          <a:solidFill>
            <a:srgbClr val="2A2F2A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706" y="4538032"/>
            <a:ext cx="5447109" cy="4975761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9" name="Text 7"/>
          <p:cNvSpPr/>
          <p:nvPr/>
        </p:nvSpPr>
        <p:spPr>
          <a:xfrm>
            <a:off x="1382701" y="4957027"/>
            <a:ext cx="13277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MMXXIII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85607" y="5136321"/>
            <a:ext cx="482413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382701" y="5604692"/>
            <a:ext cx="4747393" cy="53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5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82701" y="6288250"/>
            <a:ext cx="4747393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is a research curiosity. Nobody has it in production.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82701" y="8855623"/>
            <a:ext cx="4747393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WORKLOADS IN PROD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82701" y="9066259"/>
            <a:ext cx="4609119" cy="2854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2701" y="9066259"/>
            <a:ext cx="829585" cy="2854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0270" y="4538032"/>
            <a:ext cx="5447284" cy="4975761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265" y="4957027"/>
            <a:ext cx="11743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MMXXV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042346" y="5136321"/>
            <a:ext cx="482413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39265" y="5604692"/>
            <a:ext cx="4747573" cy="53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5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39265" y="6288250"/>
            <a:ext cx="4747573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hit production. Token bills appear in real P&amp;Ls for the first time.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839265" y="8855623"/>
            <a:ext cx="4747573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WORKLOADS IN PROD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9265" y="9066259"/>
            <a:ext cx="4609294" cy="2854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39265" y="9066259"/>
            <a:ext cx="2857675" cy="2854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77009" y="4538032"/>
            <a:ext cx="5447284" cy="4975761"/>
          </a:xfrm>
          <a:prstGeom prst="rect">
            <a:avLst/>
          </a:prstGeom>
          <a:solidFill>
            <a:srgbClr val="161B17"/>
          </a:solidFill>
          <a:ln/>
        </p:spPr>
      </p:sp>
      <p:sp>
        <p:nvSpPr>
          <p:cNvPr id="25" name="Text 23"/>
          <p:cNvSpPr/>
          <p:nvPr/>
        </p:nvSpPr>
        <p:spPr>
          <a:xfrm>
            <a:off x="12296004" y="4957027"/>
            <a:ext cx="12881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MMXXVI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499085" y="5136321"/>
            <a:ext cx="482413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296004" y="5604692"/>
            <a:ext cx="4747573" cy="53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5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2296004" y="6288250"/>
            <a:ext cx="4747573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CFOs audit AI budgets. Engineers get quarterly OKRs tied to inference cost.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296004" y="8855623"/>
            <a:ext cx="4747573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WORKLOADS IN PROD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296004" y="9066259"/>
            <a:ext cx="4609294" cy="2854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96004" y="9066259"/>
            <a:ext cx="4240551" cy="285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82366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09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14716124" cy="1539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venture-scale line item on every AI-native company's P&amp;L.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952500" y="3852372"/>
            <a:ext cx="7886665" cy="5672628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706" y="4244578"/>
            <a:ext cx="1088756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15632" y="4244578"/>
            <a:ext cx="2507526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spend → inter-agent share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706" y="4746566"/>
            <a:ext cx="34912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</a:t>
            </a:r>
            <a:pPr algn="l" indent="0" marL="0"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LLM API spend · 2028E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01637" y="4724155"/>
            <a:ext cx="1021521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50" spc="-9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$[X]B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344706" y="5203731"/>
            <a:ext cx="7102253" cy="9525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706" y="5203731"/>
            <a:ext cx="7102253" cy="95250"/>
          </a:xfrm>
          <a:prstGeom prst="rect">
            <a:avLst/>
          </a:prstGeom>
          <a:solidFill>
            <a:srgbClr val="C7C2B6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706" y="5530803"/>
            <a:ext cx="30063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</a:t>
            </a:r>
            <a:pPr algn="l" indent="0" marL="0"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share (~40%)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01637" y="5508391"/>
            <a:ext cx="1021521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50" spc="-9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$[X]B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1344706" y="5987968"/>
            <a:ext cx="7102253" cy="9525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4706" y="5987968"/>
            <a:ext cx="2840866" cy="95250"/>
          </a:xfrm>
          <a:prstGeom prst="rect">
            <a:avLst/>
          </a:prstGeom>
          <a:solidFill>
            <a:srgbClr val="A5802F"/>
          </a:solidFill>
          <a:ln/>
        </p:spPr>
      </p:sp>
      <p:sp>
        <p:nvSpPr>
          <p:cNvPr id="17" name="Text 15"/>
          <p:cNvSpPr/>
          <p:nvPr/>
        </p:nvSpPr>
        <p:spPr>
          <a:xfrm>
            <a:off x="1344706" y="6315040"/>
            <a:ext cx="42245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</a:t>
            </a:r>
            <a:pPr algn="l" indent="0" marL="0"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Inter-agent optimizable (~50% of SAM)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01637" y="6292628"/>
            <a:ext cx="1021521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50" spc="-9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$[X]B</a:t>
            </a:r>
            <a:endParaRPr lang="en-US" sz="3150" dirty="0"/>
          </a:p>
        </p:txBody>
      </p:sp>
      <p:sp>
        <p:nvSpPr>
          <p:cNvPr id="19" name="Shape 17"/>
          <p:cNvSpPr/>
          <p:nvPr/>
        </p:nvSpPr>
        <p:spPr>
          <a:xfrm>
            <a:off x="1344706" y="6772205"/>
            <a:ext cx="7102253" cy="95250"/>
          </a:xfrm>
          <a:prstGeom prst="rect">
            <a:avLst/>
          </a:prstGeom>
          <a:solidFill>
            <a:srgbClr val="1E231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4706" y="6772205"/>
            <a:ext cx="1420346" cy="9525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1" name="Text 19"/>
          <p:cNvSpPr/>
          <p:nvPr/>
        </p:nvSpPr>
        <p:spPr>
          <a:xfrm>
            <a:off x="1344706" y="8919882"/>
            <a:ext cx="731532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pending founder-locked forecast source.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48659" y="3852372"/>
            <a:ext cx="7886840" cy="5672628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0866" y="4244578"/>
            <a:ext cx="1186458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4935340" y="4244578"/>
            <a:ext cx="2084154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× spend × capture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40866" y="5806573"/>
            <a:ext cx="710242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26" name="Text 24"/>
          <p:cNvSpPr/>
          <p:nvPr/>
        </p:nvSpPr>
        <p:spPr>
          <a:xfrm>
            <a:off x="9840866" y="4895570"/>
            <a:ext cx="1600200" cy="564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7,500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1631530" y="5119687"/>
            <a:ext cx="5471116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companies with multi-agent in production (EOY 2026E)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40866" y="6687285"/>
            <a:ext cx="710242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29" name="Text 27"/>
          <p:cNvSpPr/>
          <p:nvPr/>
        </p:nvSpPr>
        <p:spPr>
          <a:xfrm>
            <a:off x="9840866" y="5989194"/>
            <a:ext cx="2254693" cy="564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$[X]K/mo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2286023" y="6213311"/>
            <a:ext cx="479698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inter-agent token spend per company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40866" y="6869906"/>
            <a:ext cx="1600200" cy="564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20%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11631530" y="7094023"/>
            <a:ext cx="547111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share (gainshare or SaaS capture)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840866" y="7923784"/>
            <a:ext cx="7102428" cy="16809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4" name="Text 32"/>
          <p:cNvSpPr/>
          <p:nvPr/>
        </p:nvSpPr>
        <p:spPr>
          <a:xfrm>
            <a:off x="9840866" y="8527676"/>
            <a:ext cx="247075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ADDRESSABLE REVENUE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532577" y="8169088"/>
            <a:ext cx="1486915" cy="598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$[X]B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9840866" y="8919882"/>
            <a:ext cx="7315501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numbers pending full benchmark + pricing lockdown.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35612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10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6736774" cy="2335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4000"/>
              </a:lnSpc>
              <a:buNone/>
            </a:pPr>
            <a:r>
              <a:rPr lang="en-US" sz="5700" i="1" spc="-1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optimization </a:t>
            </a:r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is empty.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4495485"/>
            <a:ext cx="6736774" cy="1080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Single-call compressors can't touch inter-agent context. Native caching doesn't cross providers. Observability measures, doesn't reduce.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5918632"/>
            <a:ext cx="6540558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158332"/>
            <a:ext cx="2006413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2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COMPANY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3213" y="6158332"/>
            <a:ext cx="455244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YC W26 — single-call only. Complementary at best.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6530228"/>
            <a:ext cx="17907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2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CACHES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7500" y="6530228"/>
            <a:ext cx="4774625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Prefix-cache inside one provider. Agent outputs miss.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" y="6902123"/>
            <a:ext cx="1790700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2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7500" y="6902123"/>
            <a:ext cx="4774625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Helicone, Langfuse, Portkey — measurement ≠ reduction.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" y="7531753"/>
            <a:ext cx="17907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2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500" y="7531753"/>
            <a:ext cx="4774625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AgentPrune, AgentDropout — papers, not products.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78718" y="1893619"/>
            <a:ext cx="9156781" cy="7962304"/>
          </a:xfrm>
          <a:prstGeom prst="rect">
            <a:avLst/>
          </a:prstGeom>
          <a:solidFill>
            <a:srgbClr val="161B17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57021" y="1904825"/>
            <a:ext cx="9525" cy="7939893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9924" y="5874683"/>
            <a:ext cx="9134369" cy="9525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978212" y="2038070"/>
            <a:ext cx="163259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OPTIMIZATION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1952998" y="9543384"/>
            <a:ext cx="168476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↓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 rot="-5400000">
            <a:off x="7678550" y="4975044"/>
            <a:ext cx="1533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SINGLE-CALL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 rot="5400000">
            <a:off x="16352603" y="4955083"/>
            <a:ext cx="15811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→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608919" y="2323820"/>
            <a:ext cx="149041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· OPTIMIZE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604191" y="2323820"/>
            <a:ext cx="1377308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· OPTIMIZE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08919" y="9212810"/>
            <a:ext cx="1524385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· MEASURE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70223" y="9212810"/>
            <a:ext cx="1411276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· MEASURE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757196" y="1904825"/>
            <a:ext cx="4567097" cy="3969859"/>
          </a:xfrm>
          <a:prstGeom prst="rect">
            <a:avLst/>
          </a:prstGeom>
          <a:solidFill>
            <a:srgbClr val="D4A84B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091647" y="4248605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29" name="Text 27"/>
          <p:cNvSpPr/>
          <p:nvPr/>
        </p:nvSpPr>
        <p:spPr>
          <a:xfrm>
            <a:off x="9263062" y="4219540"/>
            <a:ext cx="1387288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Company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8848970" y="3772180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31" name="Text 29"/>
          <p:cNvSpPr/>
          <p:nvPr/>
        </p:nvSpPr>
        <p:spPr>
          <a:xfrm>
            <a:off x="9020384" y="3743115"/>
            <a:ext cx="778143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LLMLingua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720927" y="3295755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33" name="Text 31"/>
          <p:cNvSpPr/>
          <p:nvPr/>
        </p:nvSpPr>
        <p:spPr>
          <a:xfrm>
            <a:off x="9892343" y="3266690"/>
            <a:ext cx="1229005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caching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0333398" y="4089797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35" name="Text 33"/>
          <p:cNvSpPr/>
          <p:nvPr/>
        </p:nvSpPr>
        <p:spPr>
          <a:xfrm>
            <a:off x="10504813" y="4060731"/>
            <a:ext cx="1096110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caching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919006" y="7583230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37" name="Text 35"/>
          <p:cNvSpPr/>
          <p:nvPr/>
        </p:nvSpPr>
        <p:spPr>
          <a:xfrm>
            <a:off x="9090421" y="7554165"/>
            <a:ext cx="637370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Helicone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9818453" y="8218463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39" name="Text 37"/>
          <p:cNvSpPr/>
          <p:nvPr/>
        </p:nvSpPr>
        <p:spPr>
          <a:xfrm>
            <a:off x="9989868" y="8189398"/>
            <a:ext cx="665034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0599538" y="7900847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41" name="Text 39"/>
          <p:cNvSpPr/>
          <p:nvPr/>
        </p:nvSpPr>
        <p:spPr>
          <a:xfrm>
            <a:off x="10770953" y="7871782"/>
            <a:ext cx="565407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4349131" y="8377272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43" name="Text 41"/>
          <p:cNvSpPr/>
          <p:nvPr/>
        </p:nvSpPr>
        <p:spPr>
          <a:xfrm>
            <a:off x="14520546" y="8348207"/>
            <a:ext cx="736822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3927685" y="7424422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45" name="Text 43"/>
          <p:cNvSpPr/>
          <p:nvPr/>
        </p:nvSpPr>
        <p:spPr>
          <a:xfrm>
            <a:off x="14099100" y="7395357"/>
            <a:ext cx="849931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5352233" y="7900847"/>
            <a:ext cx="76165" cy="76165"/>
          </a:xfrm>
          <a:prstGeom prst="ellipse">
            <a:avLst/>
          </a:prstGeom>
          <a:solidFill>
            <a:srgbClr val="9A948A"/>
          </a:solidFill>
          <a:ln/>
        </p:spPr>
      </p:sp>
      <p:sp>
        <p:nvSpPr>
          <p:cNvPr id="47" name="Text 45"/>
          <p:cNvSpPr/>
          <p:nvPr/>
        </p:nvSpPr>
        <p:spPr>
          <a:xfrm>
            <a:off x="15523648" y="7871782"/>
            <a:ext cx="558578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Martian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 rot="2700000">
            <a:off x="14061771" y="3893176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D4A84B"/>
          </a:solidFill>
          <a:ln w="16809">
            <a:solidFill>
              <a:srgbClr val="E8E2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309911" y="3778658"/>
            <a:ext cx="2331559" cy="262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-14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4309911" y="4002776"/>
            <a:ext cx="2331559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· optimization · provider-agnostic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683894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10704" y="952500"/>
            <a:ext cx="40099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14716124" cy="788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SaaS today. Hybrid gainshare at scale.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52500" y="2834913"/>
            <a:ext cx="12753974" cy="732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Pure-ML optimization layer — no per-call API dependency. Margin structure looks like infrastructure software, not a reseller.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3986843"/>
            <a:ext cx="5283223" cy="4325821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6536" y="4340878"/>
            <a:ext cx="1248790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spc="-3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306536" y="4876485"/>
            <a:ext cx="1355071" cy="598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680657" y="5179043"/>
            <a:ext cx="44669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6536" y="5570023"/>
            <a:ext cx="471240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shipping their first multi-agent product.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06536" y="6056254"/>
            <a:ext cx="4575151" cy="9525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13" name="Text 11"/>
          <p:cNvSpPr/>
          <p:nvPr/>
        </p:nvSpPr>
        <p:spPr>
          <a:xfrm>
            <a:off x="1306536" y="625620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91235" y="6256209"/>
            <a:ext cx="2802917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5M optimized tokens / day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06536" y="664718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591235" y="6647189"/>
            <a:ext cx="2672167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SDK, all six techniques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06536" y="703816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91235" y="7038169"/>
            <a:ext cx="1727842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support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02388" y="3986843"/>
            <a:ext cx="5283223" cy="4325821"/>
          </a:xfrm>
          <a:prstGeom prst="rect">
            <a:avLst/>
          </a:prstGeom>
          <a:solidFill>
            <a:srgbClr val="D4A84B">
              <a:alpha val="5000"/>
            </a:srgbClr>
          </a:solidFill>
          <a:ln w="11206">
            <a:solidFill>
              <a:srgbClr val="D4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6424" y="4340878"/>
            <a:ext cx="1038505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spc="-31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240601" y="4542584"/>
            <a:ext cx="1267175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6424" y="4876485"/>
            <a:ext cx="1848130" cy="598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$2,900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723604" y="5179043"/>
            <a:ext cx="44669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6424" y="5570023"/>
            <a:ext cx="471240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startups in production, 2–50 engineers.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6424" y="6056254"/>
            <a:ext cx="4575151" cy="9525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6424" y="625620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141123" y="6256209"/>
            <a:ext cx="302113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100M optimized tokens / day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6424" y="664718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141123" y="6647189"/>
            <a:ext cx="2852331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analytics + pipeline linting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6424" y="703816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141123" y="7038169"/>
            <a:ext cx="242715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Slack-channel support, SLA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052276" y="3986843"/>
            <a:ext cx="5283223" cy="4325821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06311" y="4340878"/>
            <a:ext cx="1859511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spc="-3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3150" dirty="0"/>
          </a:p>
        </p:txBody>
      </p:sp>
      <p:sp>
        <p:nvSpPr>
          <p:cNvPr id="34" name="Text 32"/>
          <p:cNvSpPr/>
          <p:nvPr/>
        </p:nvSpPr>
        <p:spPr>
          <a:xfrm>
            <a:off x="12406311" y="4876485"/>
            <a:ext cx="1830796" cy="598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14256158" y="5179043"/>
            <a:ext cx="1596173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gainshare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406311" y="5570023"/>
            <a:ext cx="4712406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 / vertical agent companies at scale.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406311" y="6056254"/>
            <a:ext cx="4575151" cy="9525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8" name="Text 36"/>
          <p:cNvSpPr/>
          <p:nvPr/>
        </p:nvSpPr>
        <p:spPr>
          <a:xfrm>
            <a:off x="12406311" y="625620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691011" y="6256209"/>
            <a:ext cx="3195347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usage, committed capacity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406311" y="664718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691011" y="6647189"/>
            <a:ext cx="298452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deploy, custom protocols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406311" y="7038169"/>
            <a:ext cx="22765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691011" y="7038169"/>
            <a:ext cx="281391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Gainshare: % of verified savings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52500" y="865549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8933364"/>
            <a:ext cx="520619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GROSS MARGIN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52500" y="9177617"/>
            <a:ext cx="520619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78–85% at scale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6616548" y="8933364"/>
            <a:ext cx="52063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VALUE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6616548" y="9177617"/>
            <a:ext cx="52063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saved, not tokens sold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2280771" y="8933364"/>
            <a:ext cx="52063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→ EXPAND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2280771" y="9177617"/>
            <a:ext cx="52063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install · usage growth · enterprise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6825457" y="9787287"/>
            <a:ext cx="586243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58554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13735049" cy="1539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spc="-114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founders shipping into an empty category.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952500" y="3928537"/>
            <a:ext cx="1238250" cy="1238250"/>
          </a:xfrm>
          <a:prstGeom prst="rect">
            <a:avLst/>
          </a:prstGeom>
          <a:solidFill>
            <a:srgbClr val="161B17"/>
          </a:solidFill>
          <a:ln w="11206">
            <a:solidFill>
              <a:srgbClr val="2A2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606" y="3939743"/>
            <a:ext cx="1292038" cy="125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i="1" spc="468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457415" y="3928537"/>
            <a:ext cx="6612517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spc="-31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[Last Name]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2457415" y="4425973"/>
            <a:ext cx="661251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CEO / CTO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457415" y="4746391"/>
            <a:ext cx="6612517" cy="106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end-to-end Brevitas harness across three providers. AgentBench / MARBLE / BattleAgentBench integration. Prior: Algoverse / Berkeley research mentee, BioBuddy founder, Hack The Ridge 2025 + PennApps XXVI.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0665" y="3928537"/>
            <a:ext cx="1238250" cy="1238250"/>
          </a:xfrm>
          <a:prstGeom prst="rect">
            <a:avLst/>
          </a:prstGeom>
          <a:ln w="11206">
            <a:solidFill>
              <a:srgbClr val="2A2F2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383770" y="3939743"/>
            <a:ext cx="1292038" cy="125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spc="468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0915579" y="3928537"/>
            <a:ext cx="6612517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i="1" spc="-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Co-founder joining pre-raise ]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0915579" y="4425973"/>
            <a:ext cx="661251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[ROLE TBD]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915579" y="4746391"/>
            <a:ext cx="6612517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technical co-founder finalization in progress. Target profile: infra / ML-systems background; full-time commitment before close of round.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2500" y="6310662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6626528"/>
            <a:ext cx="1687448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52500" y="7023111"/>
            <a:ext cx="5310789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of Backboard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7370494"/>
            <a:ext cx="5310789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— GTM &amp; enterprise motion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771" y="7023111"/>
            <a:ext cx="53109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Algoverse / Berkeley mentor ]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565771" y="7370494"/>
            <a:ext cx="53109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research credibility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79217" y="7023111"/>
            <a:ext cx="531097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Spur Accelerator partner ]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179217" y="7370494"/>
            <a:ext cx="53109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operator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349083"/>
            <a:ext cx="16382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863063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7000198" y="9525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13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52500" y="1893619"/>
            <a:ext cx="6995389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52500" y="2252207"/>
            <a:ext cx="6995389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0" spc="-262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$[X]M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952500" y="3603566"/>
            <a:ext cx="6995389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SAFE, cap to be finalized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7862326"/>
            <a:ext cx="6791640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8178193"/>
            <a:ext cx="851857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587658" y="8178193"/>
            <a:ext cx="1232682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8677905"/>
            <a:ext cx="1447345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TARGET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793916" y="8677905"/>
            <a:ext cx="1026424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9177617"/>
            <a:ext cx="1707706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CHECK SIZE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147302" y="9177617"/>
            <a:ext cx="1673038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$[X]K — $[X]K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06140" y="1893619"/>
            <a:ext cx="909424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8506140" y="2290202"/>
            <a:ext cx="8829359" cy="342830"/>
          </a:xfrm>
          <a:prstGeom prst="rect">
            <a:avLst/>
          </a:prstGeom>
          <a:ln w="11206">
            <a:solidFill>
              <a:srgbClr val="2A2F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17346" y="2301408"/>
            <a:ext cx="3963030" cy="32041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69170" y="2301408"/>
            <a:ext cx="11206" cy="320418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19" name="Shape 17"/>
          <p:cNvSpPr/>
          <p:nvPr/>
        </p:nvSpPr>
        <p:spPr>
          <a:xfrm>
            <a:off x="12480375" y="2301408"/>
            <a:ext cx="1761249" cy="320418"/>
          </a:xfrm>
          <a:prstGeom prst="rect">
            <a:avLst/>
          </a:prstGeom>
          <a:solidFill>
            <a:srgbClr val="A5802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30419" y="2301408"/>
            <a:ext cx="11206" cy="320418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41625" y="2301408"/>
            <a:ext cx="1761249" cy="320418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22" name="Shape 20"/>
          <p:cNvSpPr/>
          <p:nvPr/>
        </p:nvSpPr>
        <p:spPr>
          <a:xfrm>
            <a:off x="15991668" y="2301408"/>
            <a:ext cx="11206" cy="320418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874" y="2301408"/>
            <a:ext cx="1320893" cy="320418"/>
          </a:xfrm>
          <a:prstGeom prst="rect">
            <a:avLst/>
          </a:prstGeom>
          <a:solidFill>
            <a:srgbClr val="716B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312562" y="2301408"/>
            <a:ext cx="11206" cy="320418"/>
          </a:xfrm>
          <a:prstGeom prst="rect">
            <a:avLst/>
          </a:prstGeom>
          <a:solidFill>
            <a:srgbClr val="0F1410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6140" y="3668175"/>
            <a:ext cx="882935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6140" y="3087921"/>
            <a:ext cx="76165" cy="76165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7" name="Text 25"/>
          <p:cNvSpPr/>
          <p:nvPr/>
        </p:nvSpPr>
        <p:spPr>
          <a:xfrm>
            <a:off x="8772805" y="2939968"/>
            <a:ext cx="7838500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772805" y="3258110"/>
            <a:ext cx="78385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benchmark suite (n≥50) · delta engine v2 · 2 hires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97299" y="2861527"/>
            <a:ext cx="83820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300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r" indent="0" marL="0">
              <a:lnSpc>
                <a:spcPct val="92000"/>
              </a:lnSpc>
              <a:buNone/>
            </a:pPr>
            <a:r>
              <a:rPr lang="en-US" sz="165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8506140" y="4657444"/>
            <a:ext cx="882935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6140" y="4077190"/>
            <a:ext cx="76165" cy="76165"/>
          </a:xfrm>
          <a:prstGeom prst="rect">
            <a:avLst/>
          </a:prstGeom>
          <a:solidFill>
            <a:srgbClr val="A5802F"/>
          </a:solidFill>
          <a:ln/>
        </p:spPr>
      </p:sp>
      <p:sp>
        <p:nvSpPr>
          <p:cNvPr id="32" name="Text 30"/>
          <p:cNvSpPr/>
          <p:nvPr/>
        </p:nvSpPr>
        <p:spPr>
          <a:xfrm>
            <a:off x="8772805" y="3929237"/>
            <a:ext cx="7838500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research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772805" y="4247379"/>
            <a:ext cx="78385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credits · reasoning-model eval · academic collab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497299" y="3850796"/>
            <a:ext cx="83820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300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algn="r" indent="0" marL="0">
              <a:lnSpc>
                <a:spcPct val="92000"/>
              </a:lnSpc>
              <a:buNone/>
            </a:pPr>
            <a:r>
              <a:rPr lang="en-US" sz="165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8506140" y="5646714"/>
            <a:ext cx="882935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6140" y="5066459"/>
            <a:ext cx="76165" cy="76165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37" name="Text 35"/>
          <p:cNvSpPr/>
          <p:nvPr/>
        </p:nvSpPr>
        <p:spPr>
          <a:xfrm>
            <a:off x="8772805" y="4918507"/>
            <a:ext cx="7838500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8772805" y="5236648"/>
            <a:ext cx="78385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flagship pilots · instrumentation · case studies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6497299" y="4840065"/>
            <a:ext cx="83820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300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algn="r" indent="0" marL="0">
              <a:lnSpc>
                <a:spcPct val="92000"/>
              </a:lnSpc>
              <a:buNone/>
            </a:pPr>
            <a:r>
              <a:rPr lang="en-US" sz="165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8506140" y="6635983"/>
            <a:ext cx="882935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6140" y="6055729"/>
            <a:ext cx="76165" cy="76165"/>
          </a:xfrm>
          <a:prstGeom prst="rect">
            <a:avLst/>
          </a:prstGeom>
          <a:solidFill>
            <a:srgbClr val="716B5E"/>
          </a:solidFill>
          <a:ln/>
        </p:spPr>
      </p:sp>
      <p:sp>
        <p:nvSpPr>
          <p:cNvPr id="42" name="Text 40"/>
          <p:cNvSpPr/>
          <p:nvPr/>
        </p:nvSpPr>
        <p:spPr>
          <a:xfrm>
            <a:off x="8772805" y="5907776"/>
            <a:ext cx="7838500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spc="-1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· runway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8772805" y="6225918"/>
            <a:ext cx="783850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· ops · 18-month buffer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497299" y="5829335"/>
            <a:ext cx="838200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300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pPr algn="r" indent="0" marL="0">
              <a:lnSpc>
                <a:spcPct val="92000"/>
              </a:lnSpc>
              <a:buNone/>
            </a:pPr>
            <a:r>
              <a:rPr lang="en-US" sz="1650" spc="-9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8506140" y="6913854"/>
            <a:ext cx="909424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UNLOCKED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8506140" y="7196102"/>
            <a:ext cx="228705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72805" y="7196102"/>
            <a:ext cx="4203834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AgentBench / MARBLE / BattleAgentBench (n≥50)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987442" y="7196102"/>
            <a:ext cx="228705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3254107" y="7196102"/>
            <a:ext cx="2912566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design partners in production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506140" y="7844818"/>
            <a:ext cx="228705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2805" y="7844818"/>
            <a:ext cx="4203834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v1.0 · LangChain · CrewAI · AutoGen adapters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2987442" y="7844818"/>
            <a:ext cx="228705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254107" y="7844818"/>
            <a:ext cx="4100857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Seed-to-Series-A bridge: $1M ARR line of sight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39583"/>
            <a:ext cx="16001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71406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809698" y="1143000"/>
            <a:ext cx="411501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143000" y="2951699"/>
            <a:ext cx="1648205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2031 —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590435"/>
            <a:ext cx="16482059" cy="2212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400" spc="-21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multi-agent system in production runs on a </a:t>
            </a:r>
            <a:pPr algn="l" indent="0" marL="0">
              <a:lnSpc>
                <a:spcPct val="102000"/>
              </a:lnSpc>
              <a:buNone/>
            </a:pPr>
            <a:r>
              <a:rPr lang="en-US" sz="8400" i="1" spc="-210" kern="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token-efficiency layer </a:t>
            </a:r>
            <a:pPr algn="l" indent="0" marL="0">
              <a:lnSpc>
                <a:spcPct val="102000"/>
              </a:lnSpc>
              <a:buNone/>
            </a:pPr>
            <a:r>
              <a:rPr lang="en-US" sz="8400" spc="-21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 —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143000" y="6297706"/>
            <a:ext cx="16482059" cy="1125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400" spc="-210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ours is the one everyone installs first.</a:t>
            </a:r>
            <a:endParaRPr lang="en-US" sz="8400" dirty="0"/>
          </a:p>
        </p:txBody>
      </p:sp>
      <p:sp>
        <p:nvSpPr>
          <p:cNvPr id="8" name="Shape 6"/>
          <p:cNvSpPr/>
          <p:nvPr/>
        </p:nvSpPr>
        <p:spPr>
          <a:xfrm>
            <a:off x="1143000" y="7994171"/>
            <a:ext cx="16001999" cy="11206"/>
          </a:xfrm>
          <a:prstGeom prst="rect">
            <a:avLst/>
          </a:prstGeom>
          <a:solidFill>
            <a:srgbClr val="2A2F2A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8321768"/>
            <a:ext cx="323745" cy="323745"/>
          </a:xfrm>
          <a:prstGeom prst="rect">
            <a:avLst/>
          </a:prstGeom>
          <a:ln w="11206">
            <a:solidFill>
              <a:srgbClr val="E8E2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9990" y="8326670"/>
            <a:ext cx="2154366" cy="351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E8E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748166" y="8310037"/>
            <a:ext cx="2473033" cy="385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more with less.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9787287"/>
            <a:ext cx="349868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BREVITAS SYSTEMS · PRE-SEED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15651" y="9787287"/>
            <a:ext cx="596048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2026-04-22T11:26:07Z</dcterms:created>
  <dcterms:modified xsi:type="dcterms:W3CDTF">2026-04-22T11:26:07Z</dcterms:modified>
</cp:coreProperties>
</file>